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66" r:id="rId11"/>
    <p:sldId id="267" r:id="rId12"/>
    <p:sldId id="2146847058" r:id="rId13"/>
    <p:sldId id="268" r:id="rId14"/>
    <p:sldId id="2146847055" r:id="rId15"/>
    <p:sldId id="269" r:id="rId16"/>
    <p:sldId id="2146847056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C9ED7-DAF6-4A08-9127-22566E163174}" v="28" dt="2026-08-28T16:28:16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 s" userId="31094b859009c1db" providerId="LiveId" clId="{FC0C9CEA-E25C-4F8E-BD9A-BC5E69AC1CF4}"/>
    <pc:docChg chg="undo redo custSel addSld delSld modSld">
      <pc:chgData name="Mannat s" userId="31094b859009c1db" providerId="LiveId" clId="{FC0C9CEA-E25C-4F8E-BD9A-BC5E69AC1CF4}" dt="2026-08-28T16:28:16.305" v="229" actId="20578"/>
      <pc:docMkLst>
        <pc:docMk/>
      </pc:docMkLst>
      <pc:sldChg chg="modSp mod">
        <pc:chgData name="Mannat s" userId="31094b859009c1db" providerId="LiveId" clId="{FC0C9CEA-E25C-4F8E-BD9A-BC5E69AC1CF4}" dt="2026-08-28T10:08:29.146" v="153" actId="1076"/>
        <pc:sldMkLst>
          <pc:docMk/>
          <pc:sldMk cId="953325580" sldId="256"/>
        </pc:sldMkLst>
        <pc:spChg chg="mod">
          <ac:chgData name="Mannat s" userId="31094b859009c1db" providerId="LiveId" clId="{FC0C9CEA-E25C-4F8E-BD9A-BC5E69AC1CF4}" dt="2026-08-26T13:38:25.920" v="12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Mannat s" userId="31094b859009c1db" providerId="LiveId" clId="{FC0C9CEA-E25C-4F8E-BD9A-BC5E69AC1CF4}" dt="2026-08-28T10:08:29.146" v="153" actId="1076"/>
          <ac:spMkLst>
            <pc:docMk/>
            <pc:sldMk cId="953325580" sldId="256"/>
            <ac:spMk id="4" creationId="{00000000-0000-0000-0000-000000000000}"/>
          </ac:spMkLst>
        </pc:spChg>
      </pc:sldChg>
      <pc:sldChg chg="modSp mod">
        <pc:chgData name="Mannat s" userId="31094b859009c1db" providerId="LiveId" clId="{FC0C9CEA-E25C-4F8E-BD9A-BC5E69AC1CF4}" dt="2026-08-26T13:19:52.714" v="93" actId="20577"/>
        <pc:sldMkLst>
          <pc:docMk/>
          <pc:sldMk cId="1186421160" sldId="262"/>
        </pc:sldMkLst>
        <pc:spChg chg="mod">
          <ac:chgData name="Mannat s" userId="31094b859009c1db" providerId="LiveId" clId="{FC0C9CEA-E25C-4F8E-BD9A-BC5E69AC1CF4}" dt="2026-08-26T13:19:52.714" v="93" actId="20577"/>
          <ac:spMkLst>
            <pc:docMk/>
            <pc:sldMk cId="1186421160" sldId="262"/>
            <ac:spMk id="2" creationId="{8FEE4A9C-3F57-7DA7-91FD-715C3FB47F93}"/>
          </ac:spMkLst>
        </pc:spChg>
      </pc:sldChg>
      <pc:sldChg chg="modSp mod">
        <pc:chgData name="Mannat s" userId="31094b859009c1db" providerId="LiveId" clId="{FC0C9CEA-E25C-4F8E-BD9A-BC5E69AC1CF4}" dt="2026-08-26T13:31:21.180" v="118" actId="5793"/>
        <pc:sldMkLst>
          <pc:docMk/>
          <pc:sldMk cId="3210358481" sldId="263"/>
        </pc:sldMkLst>
        <pc:spChg chg="mod">
          <ac:chgData name="Mannat s" userId="31094b859009c1db" providerId="LiveId" clId="{FC0C9CEA-E25C-4F8E-BD9A-BC5E69AC1CF4}" dt="2026-08-26T13:31:21.180" v="118" actId="5793"/>
          <ac:spMkLst>
            <pc:docMk/>
            <pc:sldMk cId="3210358481" sldId="263"/>
            <ac:spMk id="2" creationId="{E041FD9D-DF07-9C37-1E61-1D920E0EF1D4}"/>
          </ac:spMkLst>
        </pc:spChg>
      </pc:sldChg>
      <pc:sldChg chg="modSp mod">
        <pc:chgData name="Mannat s" userId="31094b859009c1db" providerId="LiveId" clId="{FC0C9CEA-E25C-4F8E-BD9A-BC5E69AC1CF4}" dt="2026-08-28T10:13:36.944" v="162" actId="5793"/>
        <pc:sldMkLst>
          <pc:docMk/>
          <pc:sldMk cId="3202024527" sldId="265"/>
        </pc:sldMkLst>
        <pc:spChg chg="mod">
          <ac:chgData name="Mannat s" userId="31094b859009c1db" providerId="LiveId" clId="{FC0C9CEA-E25C-4F8E-BD9A-BC5E69AC1CF4}" dt="2026-08-28T10:13:36.944" v="162" actId="5793"/>
          <ac:spMkLst>
            <pc:docMk/>
            <pc:sldMk cId="3202024527" sldId="265"/>
            <ac:spMk id="2" creationId="{C4FFAF3C-BA60-9181-132C-C36C403AAEA7}"/>
          </ac:spMkLst>
        </pc:spChg>
      </pc:sldChg>
      <pc:sldChg chg="modSp mod">
        <pc:chgData name="Mannat s" userId="31094b859009c1db" providerId="LiveId" clId="{FC0C9CEA-E25C-4F8E-BD9A-BC5E69AC1CF4}" dt="2026-08-28T16:20:20.144" v="203" actId="20577"/>
        <pc:sldMkLst>
          <pc:docMk/>
          <pc:sldMk cId="4154508776" sldId="266"/>
        </pc:sldMkLst>
        <pc:spChg chg="mod">
          <ac:chgData name="Mannat s" userId="31094b859009c1db" providerId="LiveId" clId="{FC0C9CEA-E25C-4F8E-BD9A-BC5E69AC1CF4}" dt="2026-08-28T16:20:20.144" v="203" actId="20577"/>
          <ac:spMkLst>
            <pc:docMk/>
            <pc:sldMk cId="4154508776" sldId="266"/>
            <ac:spMk id="2" creationId="{F7F0871F-2198-9E37-C96F-3611AA199B60}"/>
          </ac:spMkLst>
        </pc:spChg>
      </pc:sldChg>
      <pc:sldChg chg="addSp delSp modSp mod">
        <pc:chgData name="Mannat s" userId="31094b859009c1db" providerId="LiveId" clId="{FC0C9CEA-E25C-4F8E-BD9A-BC5E69AC1CF4}" dt="2026-08-28T16:16:22.466" v="191" actId="931"/>
        <pc:sldMkLst>
          <pc:docMk/>
          <pc:sldMk cId="1483293388" sldId="267"/>
        </pc:sldMkLst>
        <pc:spChg chg="del mod">
          <ac:chgData name="Mannat s" userId="31094b859009c1db" providerId="LiveId" clId="{FC0C9CEA-E25C-4F8E-BD9A-BC5E69AC1CF4}" dt="2026-08-28T16:16:22.466" v="191" actId="931"/>
          <ac:spMkLst>
            <pc:docMk/>
            <pc:sldMk cId="1483293388" sldId="267"/>
            <ac:spMk id="2" creationId="{D3304455-6802-6CA9-8475-2F6DD1B8D409}"/>
          </ac:spMkLst>
        </pc:spChg>
        <pc:picChg chg="add mod ord">
          <ac:chgData name="Mannat s" userId="31094b859009c1db" providerId="LiveId" clId="{FC0C9CEA-E25C-4F8E-BD9A-BC5E69AC1CF4}" dt="2026-08-28T16:16:22.466" v="191" actId="931"/>
          <ac:picMkLst>
            <pc:docMk/>
            <pc:sldMk cId="1483293388" sldId="267"/>
            <ac:picMk id="4" creationId="{C890ACCE-3073-0560-DD11-289AD5DB3C51}"/>
          </ac:picMkLst>
        </pc:picChg>
      </pc:sldChg>
      <pc:sldChg chg="modSp mod">
        <pc:chgData name="Mannat s" userId="31094b859009c1db" providerId="LiveId" clId="{FC0C9CEA-E25C-4F8E-BD9A-BC5E69AC1CF4}" dt="2026-08-28T16:28:16.305" v="229" actId="20578"/>
        <pc:sldMkLst>
          <pc:docMk/>
          <pc:sldMk cId="3183315129" sldId="268"/>
        </pc:sldMkLst>
        <pc:spChg chg="mod">
          <ac:chgData name="Mannat s" userId="31094b859009c1db" providerId="LiveId" clId="{FC0C9CEA-E25C-4F8E-BD9A-BC5E69AC1CF4}" dt="2026-08-28T16:28:16.305" v="229" actId="20578"/>
          <ac:spMkLst>
            <pc:docMk/>
            <pc:sldMk cId="3183315129" sldId="268"/>
            <ac:spMk id="2" creationId="{005E46AB-32C4-4B57-A2B1-50738A64BE1B}"/>
          </ac:spMkLst>
        </pc:spChg>
      </pc:sldChg>
      <pc:sldChg chg="modSp mod">
        <pc:chgData name="Mannat s" userId="31094b859009c1db" providerId="LiveId" clId="{FC0C9CEA-E25C-4F8E-BD9A-BC5E69AC1CF4}" dt="2026-08-28T16:27:41.251" v="228" actId="27636"/>
        <pc:sldMkLst>
          <pc:docMk/>
          <pc:sldMk cId="728950222" sldId="269"/>
        </pc:sldMkLst>
        <pc:spChg chg="mod">
          <ac:chgData name="Mannat s" userId="31094b859009c1db" providerId="LiveId" clId="{FC0C9CEA-E25C-4F8E-BD9A-BC5E69AC1CF4}" dt="2026-08-28T16:27:41.251" v="228" actId="27636"/>
          <ac:spMkLst>
            <pc:docMk/>
            <pc:sldMk cId="728950222" sldId="269"/>
            <ac:spMk id="2" creationId="{357C38BC-22B3-37B2-E0C3-812020A76077}"/>
          </ac:spMkLst>
        </pc:spChg>
      </pc:sldChg>
      <pc:sldChg chg="addSp delSp modSp mod">
        <pc:chgData name="Mannat s" userId="31094b859009c1db" providerId="LiveId" clId="{FC0C9CEA-E25C-4F8E-BD9A-BC5E69AC1CF4}" dt="2026-08-28T16:21:55.310" v="213"/>
        <pc:sldMkLst>
          <pc:docMk/>
          <pc:sldMk cId="614882681" sldId="2146847055"/>
        </pc:sldMkLst>
        <pc:spChg chg="add del mod">
          <ac:chgData name="Mannat s" userId="31094b859009c1db" providerId="LiveId" clId="{FC0C9CEA-E25C-4F8E-BD9A-BC5E69AC1CF4}" dt="2026-08-28T16:21:55.310" v="213"/>
          <ac:spMkLst>
            <pc:docMk/>
            <pc:sldMk cId="614882681" sldId="2146847055"/>
            <ac:spMk id="2" creationId="{99BE4CFB-9AB8-74CC-5F41-E926FEB1E355}"/>
          </ac:spMkLst>
        </pc:spChg>
        <pc:spChg chg="mod">
          <ac:chgData name="Mannat s" userId="31094b859009c1db" providerId="LiveId" clId="{FC0C9CEA-E25C-4F8E-BD9A-BC5E69AC1CF4}" dt="2026-08-28T16:21:52.808" v="211" actId="20577"/>
          <ac:spMkLst>
            <pc:docMk/>
            <pc:sldMk cId="614882681" sldId="2146847055"/>
            <ac:spMk id="3" creationId="{A6638FD1-D00E-E75B-705C-564F06D93D7B}"/>
          </ac:spMkLst>
        </pc:spChg>
      </pc:sldChg>
      <pc:sldChg chg="new del">
        <pc:chgData name="Mannat s" userId="31094b859009c1db" providerId="LiveId" clId="{FC0C9CEA-E25C-4F8E-BD9A-BC5E69AC1CF4}" dt="2026-08-28T10:16:16.446" v="164" actId="680"/>
        <pc:sldMkLst>
          <pc:docMk/>
          <pc:sldMk cId="1239123226" sldId="2146847057"/>
        </pc:sldMkLst>
      </pc:sldChg>
      <pc:sldChg chg="addSp delSp modSp new mod">
        <pc:chgData name="Mannat s" userId="31094b859009c1db" providerId="LiveId" clId="{FC0C9CEA-E25C-4F8E-BD9A-BC5E69AC1CF4}" dt="2026-08-28T10:22:13.286" v="189" actId="20577"/>
        <pc:sldMkLst>
          <pc:docMk/>
          <pc:sldMk cId="2565070222" sldId="2146847057"/>
        </pc:sldMkLst>
        <pc:spChg chg="mod">
          <ac:chgData name="Mannat s" userId="31094b859009c1db" providerId="LiveId" clId="{FC0C9CEA-E25C-4F8E-BD9A-BC5E69AC1CF4}" dt="2026-08-28T10:17:09.556" v="166"/>
          <ac:spMkLst>
            <pc:docMk/>
            <pc:sldMk cId="2565070222" sldId="2146847057"/>
            <ac:spMk id="2" creationId="{42FCD3D8-5007-CAE1-B180-AF2B19919598}"/>
          </ac:spMkLst>
        </pc:spChg>
        <pc:spChg chg="del mod">
          <ac:chgData name="Mannat s" userId="31094b859009c1db" providerId="LiveId" clId="{FC0C9CEA-E25C-4F8E-BD9A-BC5E69AC1CF4}" dt="2026-08-28T10:22:06.690" v="183"/>
          <ac:spMkLst>
            <pc:docMk/>
            <pc:sldMk cId="2565070222" sldId="2146847057"/>
            <ac:spMk id="3" creationId="{ADB2C183-A96F-92F3-63AE-1E5B5055A6C6}"/>
          </ac:spMkLst>
        </pc:spChg>
        <pc:graphicFrameChg chg="add mod modGraphic">
          <ac:chgData name="Mannat s" userId="31094b859009c1db" providerId="LiveId" clId="{FC0C9CEA-E25C-4F8E-BD9A-BC5E69AC1CF4}" dt="2026-08-28T10:22:13.286" v="189" actId="20577"/>
          <ac:graphicFrameMkLst>
            <pc:docMk/>
            <pc:sldMk cId="2565070222" sldId="2146847057"/>
            <ac:graphicFrameMk id="4" creationId="{F44276EE-DEAB-CF9E-D8EF-257647259842}"/>
          </ac:graphicFrameMkLst>
        </pc:graphicFrameChg>
      </pc:sldChg>
      <pc:sldChg chg="modSp add mod">
        <pc:chgData name="Mannat s" userId="31094b859009c1db" providerId="LiveId" clId="{FC0C9CEA-E25C-4F8E-BD9A-BC5E69AC1CF4}" dt="2026-08-28T16:16:49.801" v="195" actId="14100"/>
        <pc:sldMkLst>
          <pc:docMk/>
          <pc:sldMk cId="3310086423" sldId="2146847058"/>
        </pc:sldMkLst>
        <pc:picChg chg="mod">
          <ac:chgData name="Mannat s" userId="31094b859009c1db" providerId="LiveId" clId="{FC0C9CEA-E25C-4F8E-BD9A-BC5E69AC1CF4}" dt="2026-08-28T16:16:49.801" v="195" actId="14100"/>
          <ac:picMkLst>
            <pc:docMk/>
            <pc:sldMk cId="3310086423" sldId="2146847058"/>
            <ac:picMk id="4" creationId="{4FBB8F0E-F265-1AB6-0A87-63556284EAF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icte-batch1-resume-builder-fuurng7gntvmkafiuf6own.streamlit.ap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AI-Powered Receipt &amp; Invoice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8080" y="4058588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Mannat Sharma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Sanatan Dharma College, Ambala Cantt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BBA | Commerce and Management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 AICTE ID- STU6a2da00d593fb1781374989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>
                <a:latin typeface="Arial"/>
                <a:ea typeface="+mn-lt"/>
                <a:cs typeface="Arial"/>
              </a:rPr>
              <a:t>  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Problem Statement </a:t>
            </a:r>
            <a:r>
              <a:rPr lang="en-US" sz="2000">
                <a:latin typeface="Arial"/>
                <a:ea typeface="+mn-lt"/>
                <a:cs typeface="Arial"/>
              </a:rPr>
              <a:t>(Should not include solution)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Proposed System/Solution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Calibri"/>
              </a:rPr>
              <a:t>System </a:t>
            </a:r>
            <a:r>
              <a:rPr lang="en-US" sz="2000" b="1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>
                <a:latin typeface="Arial"/>
                <a:ea typeface="+mn-lt"/>
                <a:cs typeface="+mn-lt"/>
              </a:rPr>
              <a:t>(Technology Used) </a:t>
            </a:r>
            <a:endParaRPr lang="en-US">
              <a:latin typeface="Arial"/>
              <a:ea typeface="+mn-lt"/>
              <a:cs typeface="+mn-lt"/>
            </a:endParaRPr>
          </a:p>
          <a:p>
            <a:r>
              <a:rPr lang="en-US" sz="2000" b="1">
                <a:latin typeface="Arial"/>
                <a:ea typeface="+mn-lt"/>
                <a:cs typeface="+mn-lt"/>
              </a:rPr>
              <a:t>Algorithm &amp; Deployment  </a:t>
            </a:r>
            <a:endParaRPr lang="en-US">
              <a:latin typeface="Arial"/>
              <a:cs typeface="Calibri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Conclusion</a:t>
            </a:r>
            <a:endParaRPr lang="en-US">
              <a:latin typeface="Arial"/>
              <a:cs typeface="Arial"/>
            </a:endParaRPr>
          </a:p>
          <a:p>
            <a:r>
              <a:rPr lang="en-US" sz="2000" b="1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>
                <a:latin typeface="Arial"/>
                <a:ea typeface="+mn-lt"/>
                <a:cs typeface="Arial"/>
              </a:rPr>
              <a:t>References</a:t>
            </a:r>
            <a:endParaRPr lang="en-US">
              <a:latin typeface="Arial"/>
              <a:cs typeface="Arial"/>
            </a:endParaRPr>
          </a:p>
          <a:p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r>
              <a:rPr lang="en-US" dirty="0"/>
              <a:t>Organizations, shopkeepers, and individuals handle numerous receipts and invoices containing important transaction details such as business information, dates, purchased items, quantities, prices, taxes, discounts, and final amounts.</a:t>
            </a:r>
          </a:p>
          <a:p>
            <a:r>
              <a:rPr lang="en-US" dirty="0"/>
              <a:t>Manually reading and organizing this information is time-consuming and can lead to human errors. The problem becomes more challenging because receipts and invoices may have different formats, layouts, image quality, and levels of text clarity.</a:t>
            </a:r>
          </a:p>
          <a:p>
            <a:r>
              <a:rPr lang="en-US" dirty="0"/>
              <a:t>Therefore, there is a need to accurately extract visible information from receipt and invoice images, organize it into a structured format, and check whether the available financial calculations are internally consistent without guessing missing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/>
              <a:t>The proposed system is an </a:t>
            </a:r>
            <a:r>
              <a:rPr lang="en-US" sz="1200" b="1" dirty="0"/>
              <a:t>AI-Powered Receipt and Invoice Analyzer</a:t>
            </a:r>
            <a:r>
              <a:rPr lang="en-US" sz="1200" dirty="0"/>
              <a:t> designed to automatically analyze receipt and invoice images using </a:t>
            </a:r>
            <a:r>
              <a:rPr lang="en-US" sz="1200" b="1" dirty="0"/>
              <a:t>Multimodal Generative AI</a:t>
            </a:r>
            <a:r>
              <a:rPr lang="en-US" sz="1200" dirty="0"/>
              <a:t>. The system aims to convert unstructured visual information from financial documents into a clear, organized, and easy-to-understand format.</a:t>
            </a:r>
          </a:p>
          <a:p>
            <a:r>
              <a:rPr lang="en-US" sz="1200" b="1" dirty="0"/>
              <a:t>1. Image-Based Document Upload</a:t>
            </a:r>
          </a:p>
          <a:p>
            <a:pPr marL="0" indent="0">
              <a:buNone/>
            </a:pPr>
            <a:r>
              <a:rPr lang="en-US" sz="1200" dirty="0"/>
              <a:t>The system allows users to upload receipt or invoice images in supported formats such as JPG, JPEG, and PNG for AI-based analysis.</a:t>
            </a:r>
          </a:p>
          <a:p>
            <a:r>
              <a:rPr lang="en-US" sz="1200" b="1" dirty="0"/>
              <a:t>2. Intelligent Information Extraction</a:t>
            </a:r>
          </a:p>
          <a:p>
            <a:pPr marL="0" indent="0">
              <a:buNone/>
            </a:pPr>
            <a:r>
              <a:rPr lang="en-US" sz="1200" dirty="0"/>
              <a:t>The AI analyzes the uploaded document and extracts clearly visible information, including the business or store name, address, date, time, invoice or receipt number, and payment details.</a:t>
            </a:r>
          </a:p>
          <a:p>
            <a:r>
              <a:rPr lang="en-US" sz="1200" b="1" dirty="0"/>
              <a:t>3. Automatic Item and Transaction Analysis</a:t>
            </a:r>
          </a:p>
          <a:p>
            <a:pPr marL="0" indent="0">
              <a:buNone/>
            </a:pPr>
            <a:r>
              <a:rPr lang="en-US" sz="1200" dirty="0"/>
              <a:t>The system identifies individual purchased items along with their quantity, unit price, and total amount wherever the information is clearly visible.</a:t>
            </a:r>
          </a:p>
          <a:p>
            <a:r>
              <a:rPr lang="en-US" sz="1200" b="1" dirty="0"/>
              <a:t>4. Financial Details Extraction</a:t>
            </a:r>
          </a:p>
          <a:p>
            <a:pPr marL="0" indent="0">
              <a:buNone/>
            </a:pPr>
            <a:r>
              <a:rPr lang="en-US" sz="1200" dirty="0"/>
              <a:t>Important financial information such as subtotal, tax, discount, additional charges, and final payable amount is extracted and presented in an organized manner.</a:t>
            </a:r>
          </a:p>
          <a:p>
            <a:r>
              <a:rPr lang="en-US" sz="1200" b="1" dirty="0"/>
              <a:t>5. Handling of Unclear or Missing Information</a:t>
            </a:r>
          </a:p>
          <a:p>
            <a:pPr marL="0" indent="0">
              <a:buNone/>
            </a:pPr>
            <a:r>
              <a:rPr lang="en-US" sz="1200" dirty="0"/>
              <a:t>If any text or value cannot be clearly identified from the uploaded image, the system marks it as </a:t>
            </a:r>
            <a:r>
              <a:rPr lang="en-US" sz="1200" b="1" dirty="0"/>
              <a:t>“Not readable”</a:t>
            </a:r>
            <a:r>
              <a:rPr lang="en-US" sz="1200" dirty="0"/>
              <a:t> instead of making assumptions or generating incorrect information.</a:t>
            </a:r>
          </a:p>
          <a:p>
            <a:r>
              <a:rPr lang="en-US" sz="1200" b="1" dirty="0"/>
              <a:t>6. User-Friendly AI Application</a:t>
            </a:r>
          </a:p>
          <a:p>
            <a:pPr marL="0" indent="0">
              <a:buNone/>
            </a:pPr>
            <a:r>
              <a:rPr lang="en-US" sz="1200" dirty="0"/>
              <a:t>The proposed solution provides a simple interface where users can upload a document, initiate the analysis, and quickly receive a structured summary of the extracted information.</a:t>
            </a:r>
          </a:p>
          <a:p>
            <a:r>
              <a:rPr lang="en-US" sz="1200" dirty="0"/>
              <a:t>Overall, the proposed system demonstrates how </a:t>
            </a:r>
            <a:r>
              <a:rPr lang="en-US" sz="1200" b="1" dirty="0"/>
              <a:t>Multimodal Generative AI</a:t>
            </a:r>
            <a:r>
              <a:rPr lang="en-US" sz="1200" dirty="0"/>
              <a:t> can be used to simplify document analysis, reduce manual effort, and transform receipt and invoice images into meaningful and structured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/>
              <a:t>The system follows the following workflow:</a:t>
            </a:r>
          </a:p>
          <a:p>
            <a:r>
              <a:rPr lang="en-US" sz="1800" b="1" dirty="0"/>
              <a:t>Image Upload → Image Processing → AI Analysis → Information Extraction → Structured Output → Arithmetic Verification</a:t>
            </a:r>
            <a:endParaRPr lang="en-US" sz="1800" dirty="0"/>
          </a:p>
          <a:p>
            <a:r>
              <a:rPr lang="en-US" sz="1800" b="1" dirty="0"/>
              <a:t>Step 1: Image Upload</a:t>
            </a:r>
          </a:p>
          <a:p>
            <a:pPr marL="0" indent="0">
              <a:buNone/>
            </a:pPr>
            <a:r>
              <a:rPr lang="en-US" sz="1800" dirty="0"/>
              <a:t>The user uploads a receipt or invoice in JPG, JPEG, or PNG format.</a:t>
            </a:r>
          </a:p>
          <a:p>
            <a:r>
              <a:rPr lang="en-US" sz="1800" b="1" dirty="0"/>
              <a:t>Step 2: Image Processing</a:t>
            </a:r>
          </a:p>
          <a:p>
            <a:pPr marL="0" indent="0">
              <a:buNone/>
            </a:pPr>
            <a:r>
              <a:rPr lang="en-US" sz="1800" dirty="0"/>
              <a:t>The uploaded image is opened and prepared for analysis.</a:t>
            </a:r>
          </a:p>
          <a:p>
            <a:r>
              <a:rPr lang="en-US" sz="1800" b="1" dirty="0"/>
              <a:t>Step 3: AI Analysis</a:t>
            </a:r>
          </a:p>
          <a:p>
            <a:pPr marL="0" indent="0">
              <a:buNone/>
            </a:pPr>
            <a:r>
              <a:rPr lang="en-US" sz="1800" dirty="0"/>
              <a:t>The image and a detailed instruction prompt are sent to the Gemini multimodal AI model.</a:t>
            </a:r>
          </a:p>
          <a:p>
            <a:r>
              <a:rPr lang="en-US" sz="1800" b="1" dirty="0"/>
              <a:t>Step 4: Information Extraction</a:t>
            </a:r>
          </a:p>
          <a:p>
            <a:pPr marL="0" indent="0">
              <a:buNone/>
            </a:pPr>
            <a:r>
              <a:rPr lang="en-US" sz="1800" dirty="0"/>
              <a:t>The AI identifies clearly visible information from the document.</a:t>
            </a:r>
          </a:p>
          <a:p>
            <a:r>
              <a:rPr lang="en-US" sz="1800" b="1" dirty="0"/>
              <a:t>Step 5: Structured Output</a:t>
            </a:r>
          </a:p>
          <a:p>
            <a:pPr marL="0" indent="0">
              <a:buNone/>
            </a:pPr>
            <a:r>
              <a:rPr lang="en-US" sz="1800" dirty="0"/>
              <a:t>The extracted information is presented using tables and headings.</a:t>
            </a:r>
          </a:p>
          <a:p>
            <a:r>
              <a:rPr lang="en-US" sz="1800" b="1" dirty="0"/>
              <a:t>Step 6: Verification</a:t>
            </a:r>
          </a:p>
          <a:p>
            <a:pPr marL="0" indent="0">
              <a:buNone/>
            </a:pPr>
            <a:r>
              <a:rPr lang="en-US" sz="1800" dirty="0"/>
              <a:t>The system checks whether subtotal, tax, discount, and final amount calculations appear consistent based on the visible values.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CD3D8-5007-CAE1-B180-AF2B1991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4276EE-DEAB-CF9E-D8EF-257647259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329844"/>
              </p:ext>
            </p:extLst>
          </p:nvPr>
        </p:nvGraphicFramePr>
        <p:xfrm>
          <a:off x="675298" y="1271276"/>
          <a:ext cx="10841404" cy="4734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20702">
                  <a:extLst>
                    <a:ext uri="{9D8B030D-6E8A-4147-A177-3AD203B41FA5}">
                      <a16:colId xmlns:a16="http://schemas.microsoft.com/office/drawing/2014/main" val="1740204234"/>
                    </a:ext>
                  </a:extLst>
                </a:gridCol>
                <a:gridCol w="5420702">
                  <a:extLst>
                    <a:ext uri="{9D8B030D-6E8A-4147-A177-3AD203B41FA5}">
                      <a16:colId xmlns:a16="http://schemas.microsoft.com/office/drawing/2014/main" val="3009524017"/>
                    </a:ext>
                  </a:extLst>
                </a:gridCol>
              </a:tblGrid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Component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Technology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601118902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Programming Language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Python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779535163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User Interface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Streamlit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1719858925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Generative AI Model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Gemini 3.6 </a:t>
                      </a:r>
                      <a:r>
                        <a:rPr lang="en-US" sz="1800" dirty="0"/>
                        <a:t>Flash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2014441907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Capability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Multimodal Generative AI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3611054245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 Integration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Google Generative AI API / SDK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1610254931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Image Processing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Pillow (PIL)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980417241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Input Format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JPG, JPEG, PNG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711861481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Document Analysis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AI-based Visual Understanding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1856848600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Information Extraction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Multimodal AI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949930998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Output Format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Structured Text and Tables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2638829952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Development Environment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Visual Studio Code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3350919547"/>
                  </a:ext>
                </a:extLst>
              </a:tr>
              <a:tr h="359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Deployment Platform</a:t>
                      </a:r>
                    </a:p>
                  </a:txBody>
                  <a:tcPr marL="89877" marR="89877" marT="44938" marB="4493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Streamlit</a:t>
                      </a:r>
                      <a:r>
                        <a:rPr lang="en-US" sz="1800" dirty="0"/>
                        <a:t> Community Cloud</a:t>
                      </a:r>
                    </a:p>
                  </a:txBody>
                  <a:tcPr marL="89877" marR="89877" marT="44938" marB="44938" anchor="ctr"/>
                </a:tc>
                <a:extLst>
                  <a:ext uri="{0D108BD9-81ED-4DB2-BD59-A6C34878D82A}">
                    <a16:rowId xmlns:a16="http://schemas.microsoft.com/office/drawing/2014/main" val="3327333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07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400" dirty="0"/>
              <a:t>The proposed system uses the </a:t>
            </a:r>
            <a:r>
              <a:rPr lang="en-US" sz="1400" b="1" dirty="0"/>
              <a:t>Gemini 3.6 Flash Multimodal Generative AI model</a:t>
            </a:r>
            <a:r>
              <a:rPr lang="en-US" sz="1400" dirty="0"/>
              <a:t> for analyzing receipt and invoice images. The model is selected because it can understand both </a:t>
            </a:r>
            <a:r>
              <a:rPr lang="en-US" sz="1400" b="1" dirty="0"/>
              <a:t>visual content and textual instructions</a:t>
            </a:r>
            <a:r>
              <a:rPr lang="en-US" sz="1400" dirty="0"/>
              <a:t>, making it suitable for extracting information from documents with different formats and layouts.</a:t>
            </a:r>
          </a:p>
          <a:p>
            <a:r>
              <a:rPr lang="en-US" sz="1400" b="1" dirty="0"/>
              <a:t>Data Input</a:t>
            </a:r>
          </a:p>
          <a:p>
            <a:r>
              <a:rPr lang="en-US" sz="1400" dirty="0"/>
              <a:t>The system takes a </a:t>
            </a:r>
            <a:r>
              <a:rPr lang="en-US" sz="1400" b="1" dirty="0"/>
              <a:t>receipt or invoice image</a:t>
            </a:r>
            <a:r>
              <a:rPr lang="en-US" sz="1400" dirty="0"/>
              <a:t> in JPG, JPEG, or PNG format as input. The image is analyzed along with a structured prompt that instructs the AI to extract visible details such as business information, purchased items, quantities, prices, tax, discounts, and final amounts.</a:t>
            </a:r>
          </a:p>
          <a:p>
            <a:r>
              <a:rPr lang="en-US" sz="1400" b="1" dirty="0"/>
              <a:t>Analysis Process</a:t>
            </a:r>
          </a:p>
          <a:p>
            <a:r>
              <a:rPr lang="en-US" sz="1400" dirty="0"/>
              <a:t>The uploaded image and prompt are sent to the </a:t>
            </a:r>
            <a:r>
              <a:rPr lang="en-US" sz="1400" b="1" dirty="0"/>
              <a:t>Gemini 3.6 Flash</a:t>
            </a:r>
            <a:r>
              <a:rPr lang="en-US" sz="1400" dirty="0"/>
              <a:t> model for analysis. The AI identifies clearly visible information, organizes it into structured sections and tables, and marks unclear values as </a:t>
            </a:r>
            <a:r>
              <a:rPr lang="en-US" sz="1400" b="1" dirty="0"/>
              <a:t>“Not readable”</a:t>
            </a:r>
            <a:r>
              <a:rPr lang="en-US" sz="1400" dirty="0"/>
              <a:t> instead of guessing.</a:t>
            </a:r>
          </a:p>
          <a:p>
            <a:r>
              <a:rPr lang="en-US" sz="1400" b="1" dirty="0"/>
              <a:t>Verification Process</a:t>
            </a:r>
          </a:p>
          <a:p>
            <a:r>
              <a:rPr lang="en-US" sz="1400" dirty="0"/>
              <a:t>The system checks whether visible financial values, such as the subtotal, tax, discount, and final amount, appear to be internally consistent based on the available information.</a:t>
            </a:r>
          </a:p>
          <a:p>
            <a:r>
              <a:rPr lang="en-US" sz="1400" b="1" dirty="0"/>
              <a:t>Deployment</a:t>
            </a:r>
          </a:p>
          <a:p>
            <a:r>
              <a:rPr lang="en-US" sz="1400" dirty="0"/>
              <a:t>The application is developed using </a:t>
            </a:r>
            <a:r>
              <a:rPr lang="en-US" sz="1400" b="1" dirty="0"/>
              <a:t>Python and </a:t>
            </a:r>
            <a:r>
              <a:rPr lang="en-US" sz="1400" b="1" dirty="0" err="1"/>
              <a:t>Streamlit</a:t>
            </a:r>
            <a:r>
              <a:rPr lang="en-US" sz="1400" dirty="0"/>
              <a:t> and can be deployed as a web-based application. Users can upload a receipt or invoice image through the interface and receive the AI-generated analysis directly on the screen.</a:t>
            </a:r>
          </a:p>
          <a:p>
            <a:r>
              <a:rPr lang="en-US" sz="1400" b="1" dirty="0"/>
              <a:t>Deployment Flow:</a:t>
            </a:r>
            <a:br>
              <a:rPr lang="en-US" sz="1400" dirty="0"/>
            </a:br>
            <a:r>
              <a:rPr lang="en-US" sz="1400" b="1" dirty="0"/>
              <a:t>User → </a:t>
            </a:r>
            <a:r>
              <a:rPr lang="en-US" sz="1400" b="1" dirty="0" err="1"/>
              <a:t>Streamlit</a:t>
            </a:r>
            <a:r>
              <a:rPr lang="en-US" sz="1400" b="1" dirty="0"/>
              <a:t> Web Application → Gemini 3.6 Flash → Structured Analysis Result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90ACCE-3073-0560-DD11-289AD5DB3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6614" y="1301750"/>
            <a:ext cx="9658772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DA97-CBE7-16B4-48A9-245C53D3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2BEB4C-B88D-2A24-CEFB-8596BF983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BB8F0E-F265-1AB6-0A87-63556284E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266613" y="1301749"/>
            <a:ext cx="9781137" cy="500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86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and invoice images and extract clearly visible information such as business details, purchased items, quantities, prices, taxes, </a:t>
            </a:r>
            <a:r>
              <a:rPr lang="en-US" sz="2000" dirty="0" err="1"/>
              <a:t>dThe</a:t>
            </a:r>
            <a:r>
              <a:rPr lang="en-US" sz="2000" dirty="0"/>
              <a:t> </a:t>
            </a:r>
            <a:r>
              <a:rPr lang="en-US" sz="2000" b="1" dirty="0"/>
              <a:t>AI-Powered Receipt and Invoice Analyzer</a:t>
            </a:r>
            <a:r>
              <a:rPr lang="en-US" sz="2000" dirty="0"/>
              <a:t> demonstrates the practical use of </a:t>
            </a:r>
            <a:r>
              <a:rPr lang="en-US" sz="2000" b="1" dirty="0"/>
              <a:t>Multimodal Generative AI</a:t>
            </a:r>
            <a:r>
              <a:rPr lang="en-US" sz="2000" dirty="0"/>
              <a:t> for analyzing financial documents. The system uses </a:t>
            </a:r>
            <a:r>
              <a:rPr lang="en-US" sz="2000" b="1" dirty="0"/>
              <a:t>Gemini 3.6 Flash</a:t>
            </a:r>
            <a:r>
              <a:rPr lang="en-US" sz="2000" dirty="0"/>
              <a:t> to understand uploaded receipt </a:t>
            </a:r>
            <a:r>
              <a:rPr lang="en-US" sz="2000" dirty="0" err="1"/>
              <a:t>iscounts</a:t>
            </a:r>
            <a:r>
              <a:rPr lang="en-US" sz="2000" dirty="0"/>
              <a:t>, and final amounts.</a:t>
            </a:r>
          </a:p>
          <a:p>
            <a:r>
              <a:rPr lang="en-US" sz="2000" dirty="0"/>
              <a:t>The extracted information is presented in a structured and easy-to-understand format. The system also avoids guessing missing or unclear information by marking such values as </a:t>
            </a:r>
            <a:r>
              <a:rPr lang="en-US" sz="2000" b="1" dirty="0"/>
              <a:t>“Not readable”</a:t>
            </a:r>
            <a:r>
              <a:rPr lang="en-US" sz="2000" dirty="0"/>
              <a:t> and checks whether the visible financial calculations appear internally consistent.</a:t>
            </a:r>
          </a:p>
          <a:p>
            <a:r>
              <a:rPr lang="en-US" sz="2000" dirty="0"/>
              <a:t>Overall, the project shows how Generative AI can help reduce manual effort, improve the organization of document information, and provide a simple and user-friendly approach to receipt and invoice analysis.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The AI-Powered Receipt and Invoice Analyzer can be further enhanced with the following features:</a:t>
            </a:r>
          </a:p>
          <a:p>
            <a:pPr lvl="0"/>
            <a:r>
              <a:rPr lang="en-US" sz="2000" b="1" dirty="0"/>
              <a:t>PDF and Multiple Document Support:</a:t>
            </a:r>
            <a:r>
              <a:rPr lang="en-US" sz="2000" dirty="0"/>
              <a:t> Enable analysis of PDF files and multiple receipts or invoices at the same time.</a:t>
            </a:r>
          </a:p>
          <a:p>
            <a:pPr lvl="0"/>
            <a:r>
              <a:rPr lang="en-US" sz="2000" b="1" dirty="0"/>
              <a:t>Excel and CSV Export:</a:t>
            </a:r>
            <a:r>
              <a:rPr lang="en-US" sz="2000" dirty="0"/>
              <a:t> Allow users to download the extracted information in Excel or CSV format for easier record management.</a:t>
            </a:r>
          </a:p>
          <a:p>
            <a:pPr lvl="0"/>
            <a:r>
              <a:rPr lang="en-US" sz="2000" b="1" dirty="0"/>
              <a:t>Expense Categorization:</a:t>
            </a:r>
            <a:r>
              <a:rPr lang="en-US" sz="2000" dirty="0"/>
              <a:t> Automatically categorize expenses such as food, travel, shopping, utilities, and business expenses.</a:t>
            </a:r>
          </a:p>
          <a:p>
            <a:pPr lvl="0"/>
            <a:r>
              <a:rPr lang="en-US" sz="2000" b="1" dirty="0"/>
              <a:t>Multi-Language Support:</a:t>
            </a:r>
            <a:r>
              <a:rPr lang="en-US" sz="2000" dirty="0"/>
              <a:t> Analyze receipts and invoices written in different languages.</a:t>
            </a:r>
          </a:p>
          <a:p>
            <a:pPr lvl="0"/>
            <a:r>
              <a:rPr lang="en-US" sz="2000" b="1" dirty="0"/>
              <a:t>Improved Image Processing:</a:t>
            </a:r>
            <a:r>
              <a:rPr lang="en-US" sz="2000" dirty="0"/>
              <a:t> Enhance the analysis of blurred, low-quality, tilted, or poorly scanned documents.</a:t>
            </a:r>
          </a:p>
          <a:p>
            <a:pPr lvl="0"/>
            <a:r>
              <a:rPr lang="en-US" sz="2000" b="1" dirty="0"/>
              <a:t>Database Integration:</a:t>
            </a:r>
            <a:r>
              <a:rPr lang="en-US" sz="2000" dirty="0"/>
              <a:t> Store analyzed receipts and invoices securely for future access and record management.</a:t>
            </a:r>
          </a:p>
          <a:p>
            <a:pPr lvl="0"/>
            <a:r>
              <a:rPr lang="en-US" sz="2000" b="1" dirty="0"/>
              <a:t>Expense Analytics Dashboard:</a:t>
            </a:r>
            <a:r>
              <a:rPr lang="en-US" sz="2000" dirty="0"/>
              <a:t> Provide visual summaries and insights into spending patterns and expenses.</a:t>
            </a:r>
          </a:p>
          <a:p>
            <a:pPr lvl="0"/>
            <a:r>
              <a:rPr lang="en-US" sz="2000" b="1" dirty="0"/>
              <a:t>Integration with Accounting Systems:</a:t>
            </a:r>
            <a:r>
              <a:rPr lang="en-US" sz="2000" dirty="0"/>
              <a:t> Connect the application with accounting or financial management platforms.</a:t>
            </a:r>
          </a:p>
          <a:p>
            <a:r>
              <a:rPr lang="en-US" sz="2000" dirty="0"/>
              <a:t>Overall, these enhancements can make the system more efficient, scalable, and useful for both individuals and businesses.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/>
              <a:t>References</a:t>
            </a:r>
          </a:p>
          <a:p>
            <a:pPr lvl="0"/>
            <a:r>
              <a:rPr lang="en-US" sz="2400" dirty="0"/>
              <a:t>Google AI for Developers. </a:t>
            </a:r>
            <a:r>
              <a:rPr lang="en-US" sz="2400" b="1" dirty="0"/>
              <a:t>Gemini API Documentation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Google Generative AI. </a:t>
            </a:r>
            <a:r>
              <a:rPr lang="en-US" sz="2400" b="1" dirty="0"/>
              <a:t>Gemini Models and Multimodal AI Documentation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 err="1"/>
              <a:t>Streamlit</a:t>
            </a:r>
            <a:r>
              <a:rPr lang="en-US" sz="2400" dirty="0"/>
              <a:t>. </a:t>
            </a:r>
            <a:r>
              <a:rPr lang="en-US" sz="2400" b="1" dirty="0" err="1"/>
              <a:t>Streamlit</a:t>
            </a:r>
            <a:r>
              <a:rPr lang="en-US" sz="2400" b="1" dirty="0"/>
              <a:t> Documentation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Python Software Foundation. </a:t>
            </a:r>
            <a:r>
              <a:rPr lang="en-US" sz="2400" b="1" dirty="0"/>
              <a:t>Python Documentation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Pillow. </a:t>
            </a:r>
            <a:r>
              <a:rPr lang="en-US" sz="2400" b="1" dirty="0"/>
              <a:t>Python Imaging Library (PIL) Documentation</a:t>
            </a:r>
            <a:r>
              <a:rPr lang="en-US" sz="2400" dirty="0"/>
              <a:t>.</a:t>
            </a:r>
          </a:p>
          <a:p>
            <a:pPr lvl="0"/>
            <a:r>
              <a:rPr lang="en-US" sz="2400" dirty="0"/>
              <a:t>GitHub. </a:t>
            </a:r>
            <a:r>
              <a:rPr lang="en-US" sz="2400" b="1" dirty="0"/>
              <a:t>Source Code Repository and Version Control Platform</a:t>
            </a:r>
            <a:r>
              <a:rPr lang="en-US" sz="2400" dirty="0"/>
              <a:t>.</a:t>
            </a:r>
          </a:p>
          <a:p>
            <a:pPr marL="0" indent="0" algn="ctr">
              <a:buNone/>
            </a:pPr>
            <a:r>
              <a:rPr lang="en-US" sz="2400" b="1" dirty="0"/>
              <a:t>Project Links</a:t>
            </a:r>
          </a:p>
          <a:p>
            <a:r>
              <a:rPr lang="en-US" sz="2400" b="1" dirty="0"/>
              <a:t>GitHub Repository:</a:t>
            </a:r>
            <a:br>
              <a:rPr lang="en-US" sz="2400" dirty="0"/>
            </a:br>
            <a:r>
              <a:rPr lang="en-US" sz="2400" b="1" dirty="0"/>
              <a:t>Deployment : </a:t>
            </a:r>
            <a:r>
              <a:rPr lang="en-US" sz="2400" dirty="0" err="1"/>
              <a:t>Streamlit</a:t>
            </a:r>
            <a:r>
              <a:rPr lang="en-US" sz="2400" dirty="0"/>
              <a:t> Community Cloud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dirty="0" err="1"/>
              <a:t>Github</a:t>
            </a:r>
            <a:r>
              <a:rPr lang="en-IN" dirty="0"/>
              <a:t> Link: </a:t>
            </a:r>
            <a:endParaRPr lang="en-US" dirty="0"/>
          </a:p>
          <a:p>
            <a:pPr marL="305435" indent="-305435"/>
            <a:r>
              <a:rPr lang="en-IN" dirty="0"/>
              <a:t>Deployment: HF, </a:t>
            </a:r>
            <a:r>
              <a:rPr lang="en-IN" dirty="0" err="1"/>
              <a:t>Streamlit</a:t>
            </a:r>
            <a:r>
              <a:rPr lang="en-IN" dirty="0"/>
              <a:t> Link, </a:t>
            </a:r>
            <a:r>
              <a:rPr lang="en-IN" dirty="0" err="1"/>
              <a:t>Gradio</a:t>
            </a:r>
            <a:r>
              <a:rPr lang="en-IN" dirty="0"/>
              <a:t> (OPTIONAL)</a:t>
            </a:r>
          </a:p>
          <a:p>
            <a:pPr marL="305435" indent="-305435"/>
            <a:r>
              <a:rPr lang="en-IN" dirty="0" err="1">
                <a:hlinkClick r:id="rId2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51</TotalTime>
  <Words>1319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An AI-Powered Receipt &amp; Invoice Analyzer</vt:lpstr>
      <vt:lpstr>OUTLINE</vt:lpstr>
      <vt:lpstr>Problem Statement</vt:lpstr>
      <vt:lpstr>Proposed Solution</vt:lpstr>
      <vt:lpstr>System  Approach</vt:lpstr>
      <vt:lpstr>TECHNOLOGY USED</vt:lpstr>
      <vt:lpstr>Algorithm &amp; Deployment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mannat ss</cp:lastModifiedBy>
  <cp:revision>3</cp:revision>
  <dcterms:created xsi:type="dcterms:W3CDTF">2021-05-26T16:50:10Z</dcterms:created>
  <dcterms:modified xsi:type="dcterms:W3CDTF">2026-08-28T16:28:27Z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